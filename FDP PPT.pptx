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411" r:id="rId3"/>
    <p:sldId id="618" r:id="rId4"/>
    <p:sldId id="317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218" autoAdjust="0"/>
  </p:normalViewPr>
  <p:slideViewPr>
    <p:cSldViewPr>
      <p:cViewPr varScale="1">
        <p:scale>
          <a:sx n="69" d="100"/>
          <a:sy n="69" d="100"/>
        </p:scale>
        <p:origin x="141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5FAF-C30D-4DB7-963F-0F15B8BD3C6A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5BD056-0FA2-4B03-B4DA-E4ACC2FE8F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553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10916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14200-D7BE-C2AD-0326-018CA7152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FF6961-CA9B-FF48-1F29-71A0001FE4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6283EE-719B-44F7-9809-8759DFAEFB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25B04-7449-9D5B-317D-A0A65B75BC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41987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C612D-3FD4-4F64-B1AA-2C95B58455C6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0F75B-C1B6-478D-9B4C-2E043BDB9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609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C612D-3FD4-4F64-B1AA-2C95B58455C6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0F75B-C1B6-478D-9B4C-2E043BDB9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105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C612D-3FD4-4F64-B1AA-2C95B58455C6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0F75B-C1B6-478D-9B4C-2E043BDB9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150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C612D-3FD4-4F64-B1AA-2C95B58455C6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0F75B-C1B6-478D-9B4C-2E043BDB9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951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C612D-3FD4-4F64-B1AA-2C95B58455C6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0F75B-C1B6-478D-9B4C-2E043BDB9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676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C612D-3FD4-4F64-B1AA-2C95B58455C6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0F75B-C1B6-478D-9B4C-2E043BDB9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324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C612D-3FD4-4F64-B1AA-2C95B58455C6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0F75B-C1B6-478D-9B4C-2E043BDB9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457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C612D-3FD4-4F64-B1AA-2C95B58455C6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0F75B-C1B6-478D-9B4C-2E043BDB9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866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C612D-3FD4-4F64-B1AA-2C95B58455C6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0F75B-C1B6-478D-9B4C-2E043BDB9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90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C612D-3FD4-4F64-B1AA-2C95B58455C6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0F75B-C1B6-478D-9B4C-2E043BDB9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007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C612D-3FD4-4F64-B1AA-2C95B58455C6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0F75B-C1B6-478D-9B4C-2E043BDB9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182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DC612D-3FD4-4F64-B1AA-2C95B58455C6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0F75B-C1B6-478D-9B4C-2E043BDB9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610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v-test.org/en/statistics/malware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hyperlink" Target="https://www.bankmycell.com/blog/android-vs-apple-market-share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 txBox="1"/>
          <p:nvPr/>
        </p:nvSpPr>
        <p:spPr>
          <a:xfrm>
            <a:off x="692768" y="301177"/>
            <a:ext cx="7758464" cy="560166"/>
          </a:xfrm>
          <a:prstGeom prst="rect">
            <a:avLst/>
          </a:prstGeom>
        </p:spPr>
        <p:txBody>
          <a:bodyPr vert="horz" wrap="square" lIns="0" tIns="6109" rIns="0" bIns="0" rtlCol="0">
            <a:spAutoFit/>
          </a:bodyPr>
          <a:lstStyle/>
          <a:p>
            <a:pPr marL="6109" algn="ctr">
              <a:spcBef>
                <a:spcPts val="48"/>
              </a:spcBef>
            </a:pPr>
            <a:r>
              <a:rPr lang="en-GB" sz="3600" dirty="0">
                <a:latin typeface="+mj-lt"/>
                <a:cs typeface="Source Sans Pro"/>
              </a:rPr>
              <a:t>Bootcamp on AI for Cybersecurity</a:t>
            </a:r>
            <a:endParaRPr lang="en-US" sz="3300" dirty="0">
              <a:latin typeface="+mj-lt"/>
              <a:cs typeface="Source Sans Pr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59632" y="1869374"/>
            <a:ext cx="6552728" cy="375501"/>
          </a:xfrm>
          <a:prstGeom prst="rect">
            <a:avLst/>
          </a:prstGeom>
        </p:spPr>
        <p:txBody>
          <a:bodyPr vert="horz" wrap="square" lIns="0" tIns="6109" rIns="0" bIns="0" rtlCol="0">
            <a:spAutoFit/>
          </a:bodyPr>
          <a:lstStyle/>
          <a:p>
            <a:pPr marL="70250" marR="2443" indent="-64447" algn="ctr">
              <a:spcBef>
                <a:spcPts val="48"/>
              </a:spcBef>
            </a:pPr>
            <a:r>
              <a:rPr lang="en-GB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Bootcamp</a:t>
            </a:r>
            <a:endParaRPr lang="en-US" sz="2116" dirty="0">
              <a:solidFill>
                <a:srgbClr val="FF0000"/>
              </a:solidFill>
              <a:cs typeface="Source Sans Pro Ligh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616" y="5301208"/>
            <a:ext cx="6912768" cy="625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732" dirty="0">
                <a:solidFill>
                  <a:srgbClr val="002060"/>
                </a:solidFill>
              </a:rPr>
              <a:t>                                         </a:t>
            </a:r>
            <a:r>
              <a:rPr lang="en-GB" sz="1732" dirty="0">
                <a:solidFill>
                  <a:srgbClr val="00B0F0"/>
                </a:solidFill>
              </a:rPr>
              <a:t>Narendra Singh (PhD Scholar)</a:t>
            </a:r>
          </a:p>
          <a:p>
            <a:r>
              <a:rPr lang="en-GB" sz="1732" dirty="0">
                <a:solidFill>
                  <a:srgbClr val="002060"/>
                </a:solidFill>
              </a:rPr>
              <a:t>       </a:t>
            </a:r>
            <a:r>
              <a:rPr lang="en-GB" sz="1600" dirty="0">
                <a:solidFill>
                  <a:srgbClr val="002060"/>
                </a:solidFill>
              </a:rPr>
              <a:t>Department of computer Science  Indian Institute of technology, Patna</a:t>
            </a:r>
            <a:endParaRPr lang="en-GB" sz="1732" dirty="0">
              <a:solidFill>
                <a:srgbClr val="00206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640" y="3251807"/>
            <a:ext cx="1454712" cy="1454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064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75207-5FA6-347A-323D-48AE91E3D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9A1BB924-5246-1126-6985-89FA60739497}"/>
              </a:ext>
            </a:extLst>
          </p:cNvPr>
          <p:cNvSpPr txBox="1"/>
          <p:nvPr/>
        </p:nvSpPr>
        <p:spPr>
          <a:xfrm>
            <a:off x="2267744" y="75154"/>
            <a:ext cx="44684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300" dirty="0"/>
              <a:t>Why Android Malware 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CF2AFE-9552-2E5A-B4AF-480B19E3A745}"/>
              </a:ext>
            </a:extLst>
          </p:cNvPr>
          <p:cNvSpPr txBox="1"/>
          <p:nvPr/>
        </p:nvSpPr>
        <p:spPr>
          <a:xfrm>
            <a:off x="561031" y="1030161"/>
            <a:ext cx="802193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202124"/>
                </a:solidFill>
                <a:latin typeface="Comic Sans MS" panose="030F0702030302020204" pitchFamily="66" charset="0"/>
              </a:rPr>
              <a:t>Malware is utilized to gain unauthorized access to systems, and steal data, disrupt system services</a:t>
            </a:r>
            <a:r>
              <a:rPr lang="en-US" altLang="en-US" sz="1600" dirty="0">
                <a:latin typeface="Comic Sans MS" panose="030F0702030302020204" pitchFamily="66" charset="0"/>
              </a:rPr>
              <a:t>.</a:t>
            </a:r>
            <a:endParaRPr lang="en-IN" sz="1600" dirty="0">
              <a:latin typeface="Comic Sans MS" panose="030F0702030302020204" pitchFamily="66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omic Sans MS" panose="030F0702030302020204" pitchFamily="66" charset="0"/>
              </a:rPr>
              <a:t>According to AV-Test data</a:t>
            </a:r>
            <a:r>
              <a:rPr lang="en-GB" sz="1600" dirty="0">
                <a:latin typeface="Comic Sans MS" panose="030F0702030302020204" pitchFamily="66" charset="0"/>
              </a:rPr>
              <a:t>, in 2024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omic Sans MS" panose="030F0702030302020204" pitchFamily="66" charset="0"/>
              </a:rPr>
              <a:t>A total of 2,58,547 mobile malware were detected.</a:t>
            </a:r>
          </a:p>
          <a:p>
            <a:r>
              <a:rPr lang="en-IN" sz="1600" dirty="0"/>
              <a:t>                </a:t>
            </a:r>
            <a:r>
              <a:rPr lang="en-IN" sz="1400" dirty="0"/>
              <a:t>Source: </a:t>
            </a:r>
            <a:r>
              <a:rPr lang="en-IN" sz="1400" dirty="0">
                <a:hlinkClick r:id="rId3"/>
              </a:rPr>
              <a:t>https://www.av-test.org/en/statistics/malware/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kern="0" dirty="0">
                <a:latin typeface="Comic Sans MS" panose="030F0702030302020204" pitchFamily="66" charset="0"/>
                <a:cs typeface="Arial" panose="020B0604020202020204" pitchFamily="34" charset="0"/>
              </a:rPr>
              <a:t>69.44% Android market share </a:t>
            </a:r>
            <a:r>
              <a:rPr lang="fr-FR" sz="1600" dirty="0">
                <a:solidFill>
                  <a:srgbClr val="3A3A3A"/>
                </a:solidFill>
                <a:latin typeface="Poppins" panose="00000500000000000000" pitchFamily="2" charset="0"/>
              </a:rPr>
              <a:t>Q4 2023 	</a:t>
            </a:r>
            <a:r>
              <a:rPr lang="fr-FR" sz="1100" dirty="0">
                <a:solidFill>
                  <a:srgbClr val="3A3A3A"/>
                </a:solidFill>
                <a:latin typeface="Poppins" panose="00000500000000000000" pitchFamily="2" charset="0"/>
              </a:rPr>
              <a:t>Source: </a:t>
            </a:r>
            <a:r>
              <a:rPr lang="fr-FR" sz="1100" u="sng" dirty="0">
                <a:latin typeface="Poppins" panose="00000500000000000000" pitchFamily="2" charset="0"/>
                <a:hlinkClick r:id="rId4"/>
              </a:rPr>
              <a:t>https://www.bankmycell.com/blog/android-vs-apple-market-share/</a:t>
            </a:r>
            <a:r>
              <a:rPr lang="en-GB" sz="1100" kern="0" dirty="0"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</a:p>
          <a:p>
            <a:endParaRPr lang="en-IN" sz="1600" dirty="0"/>
          </a:p>
        </p:txBody>
      </p:sp>
      <p:pic>
        <p:nvPicPr>
          <p:cNvPr id="9" name="Picture 8" descr="A graph of red bars&#10;&#10;Description automatically generated with medium confidence">
            <a:extLst>
              <a:ext uri="{FF2B5EF4-FFF2-40B4-BE49-F238E27FC236}">
                <a16:creationId xmlns:a16="http://schemas.microsoft.com/office/drawing/2014/main" id="{33F24138-95E8-07F3-A47D-D285905008D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3113968"/>
            <a:ext cx="7688916" cy="299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05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3D86C-E42A-D1EE-F12F-01E8A93E5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6668" y="44624"/>
            <a:ext cx="2890664" cy="562074"/>
          </a:xfrm>
        </p:spPr>
        <p:txBody>
          <a:bodyPr>
            <a:normAutofit fontScale="90000"/>
          </a:bodyPr>
          <a:lstStyle/>
          <a:p>
            <a:r>
              <a:rPr lang="en-IN" dirty="0"/>
              <a:t>Lecture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E75DA-EB36-B272-D670-F5B9A149C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486" y="476672"/>
            <a:ext cx="8291264" cy="4525963"/>
          </a:xfrm>
        </p:spPr>
        <p:txBody>
          <a:bodyPr>
            <a:normAutofit fontScale="92500" lnSpcReduction="10000"/>
          </a:bodyPr>
          <a:lstStyle/>
          <a:p>
            <a:r>
              <a:rPr lang="en-IN" sz="1700" dirty="0">
                <a:latin typeface="+mj-lt"/>
              </a:rPr>
              <a:t>About the dataset: </a:t>
            </a:r>
          </a:p>
          <a:p>
            <a:pPr lvl="1"/>
            <a:r>
              <a:rPr lang="en-IN" sz="1700" b="1" i="0" dirty="0">
                <a:solidFill>
                  <a:srgbClr val="2D2D2D"/>
                </a:solidFill>
                <a:effectLst/>
                <a:latin typeface="+mj-lt"/>
              </a:rPr>
              <a:t>CICAndMal2017</a:t>
            </a:r>
            <a:r>
              <a:rPr lang="en-IN" sz="1700" b="0" i="0" dirty="0">
                <a:solidFill>
                  <a:srgbClr val="2D2D2D"/>
                </a:solidFill>
                <a:effectLst/>
                <a:latin typeface="+mj-lt"/>
              </a:rPr>
              <a:t> dataset contain 426 malware and 597 Bening App.</a:t>
            </a:r>
          </a:p>
          <a:p>
            <a:pPr lvl="1"/>
            <a:r>
              <a:rPr lang="en-IN" sz="1700" b="0" i="0" dirty="0">
                <a:solidFill>
                  <a:srgbClr val="2D2D2D"/>
                </a:solidFill>
                <a:effectLst/>
                <a:latin typeface="+mj-lt"/>
              </a:rPr>
              <a:t>Four categories: </a:t>
            </a:r>
            <a:r>
              <a:rPr lang="en-GB" sz="1700" b="0" i="0" dirty="0">
                <a:solidFill>
                  <a:srgbClr val="2D2D2D"/>
                </a:solidFill>
                <a:effectLst/>
                <a:latin typeface="+mj-lt"/>
              </a:rPr>
              <a:t>Adware, Ransomware, Scareware, SMS Malware.</a:t>
            </a:r>
          </a:p>
          <a:p>
            <a:pPr lvl="1"/>
            <a:r>
              <a:rPr lang="en-IN" sz="1700" dirty="0">
                <a:latin typeface="+mj-lt"/>
              </a:rPr>
              <a:t>Demo with </a:t>
            </a:r>
            <a:r>
              <a:rPr lang="en-IN" sz="1700" dirty="0" err="1">
                <a:latin typeface="+mj-lt"/>
              </a:rPr>
              <a:t>VirusTotal</a:t>
            </a:r>
            <a:endParaRPr lang="en-IN" sz="1700" dirty="0">
              <a:latin typeface="+mj-lt"/>
            </a:endParaRPr>
          </a:p>
          <a:p>
            <a:r>
              <a:rPr lang="en-IN" sz="1700" dirty="0">
                <a:latin typeface="+mj-lt"/>
              </a:rPr>
              <a:t>Reverse Engineering of Android app.</a:t>
            </a:r>
          </a:p>
          <a:p>
            <a:r>
              <a:rPr lang="en-IN" sz="1700" dirty="0">
                <a:latin typeface="+mj-lt"/>
              </a:rPr>
              <a:t>About </a:t>
            </a:r>
            <a:r>
              <a:rPr lang="en-IN" sz="1700" dirty="0" err="1">
                <a:latin typeface="+mj-lt"/>
              </a:rPr>
              <a:t>Androguard</a:t>
            </a:r>
            <a:r>
              <a:rPr lang="en-IN" sz="1700" dirty="0">
                <a:latin typeface="+mj-lt"/>
              </a:rPr>
              <a:t> tool:</a:t>
            </a:r>
          </a:p>
          <a:p>
            <a:pPr lvl="1"/>
            <a:r>
              <a:rPr lang="en-GB" sz="1700" b="0" i="0" dirty="0" err="1">
                <a:solidFill>
                  <a:srgbClr val="404040"/>
                </a:solidFill>
                <a:effectLst/>
                <a:latin typeface="+mj-lt"/>
              </a:rPr>
              <a:t>Androguard</a:t>
            </a:r>
            <a:r>
              <a:rPr lang="en-GB" sz="1700" b="0" i="0" dirty="0">
                <a:solidFill>
                  <a:srgbClr val="404040"/>
                </a:solidFill>
                <a:effectLst/>
                <a:latin typeface="+mj-lt"/>
              </a:rPr>
              <a:t> is a full python tool to play with Android files.</a:t>
            </a:r>
          </a:p>
          <a:p>
            <a:r>
              <a:rPr lang="en-IN" sz="1700" dirty="0">
                <a:latin typeface="+mj-lt"/>
              </a:rPr>
              <a:t>Feature Extraction from android </a:t>
            </a:r>
            <a:r>
              <a:rPr lang="en-IN" sz="1700" dirty="0" err="1">
                <a:latin typeface="+mj-lt"/>
              </a:rPr>
              <a:t>apk</a:t>
            </a:r>
            <a:endParaRPr lang="en-IN" sz="1700" dirty="0">
              <a:latin typeface="+mj-lt"/>
            </a:endParaRPr>
          </a:p>
          <a:p>
            <a:r>
              <a:rPr lang="en-IN" sz="1700" dirty="0">
                <a:latin typeface="+mj-lt"/>
              </a:rPr>
              <a:t>Data Preparation</a:t>
            </a:r>
          </a:p>
          <a:p>
            <a:r>
              <a:rPr lang="en-IN" sz="1700" dirty="0">
                <a:latin typeface="+mj-lt"/>
              </a:rPr>
              <a:t>Model Training</a:t>
            </a:r>
          </a:p>
          <a:p>
            <a:r>
              <a:rPr lang="en-IN" sz="1700" dirty="0">
                <a:latin typeface="+mj-lt"/>
              </a:rPr>
              <a:t>About </a:t>
            </a:r>
            <a:r>
              <a:rPr lang="en-IN" sz="1700" dirty="0" err="1">
                <a:latin typeface="+mj-lt"/>
              </a:rPr>
              <a:t>Genymotion</a:t>
            </a:r>
            <a:r>
              <a:rPr lang="en-IN" sz="1700" dirty="0">
                <a:latin typeface="+mj-lt"/>
              </a:rPr>
              <a:t> emulator</a:t>
            </a:r>
          </a:p>
          <a:p>
            <a:pPr lvl="1"/>
            <a:r>
              <a:rPr lang="en-IN" sz="1700" dirty="0">
                <a:latin typeface="+mj-lt"/>
              </a:rPr>
              <a:t>How to install</a:t>
            </a:r>
          </a:p>
          <a:p>
            <a:pPr lvl="1"/>
            <a:r>
              <a:rPr lang="en-IN" sz="1700" dirty="0">
                <a:latin typeface="+mj-lt"/>
              </a:rPr>
              <a:t>How to create emulator</a:t>
            </a:r>
          </a:p>
          <a:p>
            <a:r>
              <a:rPr lang="en-IN" sz="1700" dirty="0">
                <a:latin typeface="+mj-lt"/>
              </a:rPr>
              <a:t>About </a:t>
            </a:r>
            <a:r>
              <a:rPr lang="en-IN" sz="1700" dirty="0" err="1">
                <a:latin typeface="+mj-lt"/>
              </a:rPr>
              <a:t>Kivy</a:t>
            </a:r>
            <a:r>
              <a:rPr lang="en-IN" sz="1700" dirty="0">
                <a:latin typeface="+mj-lt"/>
              </a:rPr>
              <a:t>:</a:t>
            </a:r>
          </a:p>
          <a:p>
            <a:pPr lvl="1"/>
            <a:r>
              <a:rPr lang="en-GB" sz="1700" dirty="0" err="1">
                <a:latin typeface="+mj-lt"/>
              </a:rPr>
              <a:t>Kivy</a:t>
            </a:r>
            <a:r>
              <a:rPr lang="en-GB" sz="1700" dirty="0">
                <a:latin typeface="+mj-lt"/>
              </a:rPr>
              <a:t> is an framework for developing Android applications using Python. </a:t>
            </a:r>
          </a:p>
          <a:p>
            <a:pPr lvl="1"/>
            <a:r>
              <a:rPr lang="en-GB" sz="1700" dirty="0">
                <a:latin typeface="+mj-lt"/>
              </a:rPr>
              <a:t>Deploy trained model in  android phone.</a:t>
            </a:r>
            <a:endParaRPr lang="en-IN" sz="1700" dirty="0">
              <a:latin typeface="+mj-lt"/>
            </a:endParaRPr>
          </a:p>
          <a:p>
            <a:pPr marL="342900" lvl="1" indent="0">
              <a:buNone/>
            </a:pP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2EAB58-D670-C631-F9EB-3140D24BF576}"/>
              </a:ext>
            </a:extLst>
          </p:cNvPr>
          <p:cNvSpPr txBox="1">
            <a:spLocks/>
          </p:cNvSpPr>
          <p:nvPr/>
        </p:nvSpPr>
        <p:spPr>
          <a:xfrm>
            <a:off x="251520" y="4797152"/>
            <a:ext cx="8229600" cy="15407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/>
              <a:t>Deployment Procedure:</a:t>
            </a:r>
          </a:p>
          <a:p>
            <a:pPr lvl="1"/>
            <a:r>
              <a:rPr lang="en-GB" sz="1600" dirty="0"/>
              <a:t>Create layout for Android App.</a:t>
            </a:r>
          </a:p>
          <a:p>
            <a:pPr lvl="2"/>
            <a:r>
              <a:rPr lang="en-GB" sz="1600" dirty="0"/>
              <a:t>Layout contain (output box, select particular App for analysis button, and Analysis button)</a:t>
            </a:r>
          </a:p>
          <a:p>
            <a:pPr lvl="1"/>
            <a:r>
              <a:rPr lang="en-IN" sz="1600" dirty="0"/>
              <a:t>Now we got list package installed in Android emulator.</a:t>
            </a:r>
          </a:p>
          <a:p>
            <a:pPr lvl="1"/>
            <a:r>
              <a:rPr lang="en-IN" sz="1600" dirty="0"/>
              <a:t>We need to find path of Android App using package name for further analysis.</a:t>
            </a:r>
          </a:p>
          <a:p>
            <a:pPr lvl="1"/>
            <a:r>
              <a:rPr lang="en-IN" sz="1600" dirty="0"/>
              <a:t>Once Android app is found, performed analysis. </a:t>
            </a:r>
          </a:p>
        </p:txBody>
      </p:sp>
    </p:spTree>
    <p:extLst>
      <p:ext uri="{BB962C8B-B14F-4D97-AF65-F5344CB8AC3E}">
        <p14:creationId xmlns:p14="http://schemas.microsoft.com/office/powerpoint/2010/main" val="3455224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80" y="2564904"/>
            <a:ext cx="5915025" cy="99417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Thank you 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0801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5986</TotalTime>
  <Words>259</Words>
  <Application>Microsoft Office PowerPoint</Application>
  <PresentationFormat>On-screen Show (4:3)</PresentationFormat>
  <Paragraphs>36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Comic Sans MS</vt:lpstr>
      <vt:lpstr>Poppins</vt:lpstr>
      <vt:lpstr>Source Sans Pro Light</vt:lpstr>
      <vt:lpstr>Office Theme</vt:lpstr>
      <vt:lpstr>PowerPoint Presentation</vt:lpstr>
      <vt:lpstr>PowerPoint Presentation</vt:lpstr>
      <vt:lpstr>Lecture Flow</vt:lpstr>
      <vt:lpstr>Thank you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Server (Dynamic Analysis)</dc:title>
  <dc:creator>acer</dc:creator>
  <cp:lastModifiedBy>Narendra Singh</cp:lastModifiedBy>
  <cp:revision>133</cp:revision>
  <dcterms:created xsi:type="dcterms:W3CDTF">2021-09-17T11:15:54Z</dcterms:created>
  <dcterms:modified xsi:type="dcterms:W3CDTF">2025-10-29T08:28:06Z</dcterms:modified>
</cp:coreProperties>
</file>